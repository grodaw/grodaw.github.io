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57490E-17F0-4442-A2D6-DD3DEE9BC87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BCF2B5-FB0B-42C6-91AA-B3EEFD5E5CC5}">
      <dgm:prSet/>
      <dgm:spPr/>
      <dgm:t>
        <a:bodyPr/>
        <a:lstStyle/>
        <a:p>
          <a:r>
            <a:rPr lang="en-US" b="1" i="0" baseline="0"/>
            <a:t>1. Target casual riders on weekends with membership messaging.</a:t>
          </a:r>
          <a:endParaRPr lang="en-US"/>
        </a:p>
      </dgm:t>
    </dgm:pt>
    <dgm:pt modelId="{90256CFD-81F9-49AD-8861-5F6B3EC3817B}" type="parTrans" cxnId="{749F97D9-8034-4A62-AA30-C5A7B663970B}">
      <dgm:prSet/>
      <dgm:spPr/>
      <dgm:t>
        <a:bodyPr/>
        <a:lstStyle/>
        <a:p>
          <a:endParaRPr lang="en-US"/>
        </a:p>
      </dgm:t>
    </dgm:pt>
    <dgm:pt modelId="{8EE14EB4-6E55-44DC-AABA-6ABE992476A1}" type="sibTrans" cxnId="{749F97D9-8034-4A62-AA30-C5A7B663970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57AC179-9A77-4E3C-96E5-7EB61DDEF5F9}">
      <dgm:prSet/>
      <dgm:spPr/>
      <dgm:t>
        <a:bodyPr/>
        <a:lstStyle/>
        <a:p>
          <a:r>
            <a:rPr lang="en-US" b="0" i="0" baseline="0"/>
            <a:t>Ads at Lakeshore kiosks</a:t>
          </a:r>
          <a:endParaRPr lang="en-US"/>
        </a:p>
      </dgm:t>
    </dgm:pt>
    <dgm:pt modelId="{F91F7C80-A904-4862-B0DB-C0CA37377107}" type="parTrans" cxnId="{F664316A-3FF5-4A5E-8A88-B367880D9DFA}">
      <dgm:prSet/>
      <dgm:spPr/>
      <dgm:t>
        <a:bodyPr/>
        <a:lstStyle/>
        <a:p>
          <a:endParaRPr lang="en-US"/>
        </a:p>
      </dgm:t>
    </dgm:pt>
    <dgm:pt modelId="{6BCA0C72-C301-4235-BA22-5FB3C458497A}" type="sibTrans" cxnId="{F664316A-3FF5-4A5E-8A88-B367880D9DFA}">
      <dgm:prSet/>
      <dgm:spPr/>
      <dgm:t>
        <a:bodyPr/>
        <a:lstStyle/>
        <a:p>
          <a:endParaRPr lang="en-US"/>
        </a:p>
      </dgm:t>
    </dgm:pt>
    <dgm:pt modelId="{392899B6-3E86-4A57-9763-18F6324EB260}">
      <dgm:prSet/>
      <dgm:spPr/>
      <dgm:t>
        <a:bodyPr/>
        <a:lstStyle/>
        <a:p>
          <a:r>
            <a:rPr lang="en-US" b="0" i="0" baseline="0"/>
            <a:t>In-app popups during long leisure rides</a:t>
          </a:r>
          <a:endParaRPr lang="en-US"/>
        </a:p>
      </dgm:t>
    </dgm:pt>
    <dgm:pt modelId="{B7F00066-0248-489F-83E7-4DB486A65A69}" type="parTrans" cxnId="{D10143DD-BBB0-4D60-94CE-E969C77EE56D}">
      <dgm:prSet/>
      <dgm:spPr/>
      <dgm:t>
        <a:bodyPr/>
        <a:lstStyle/>
        <a:p>
          <a:endParaRPr lang="en-US"/>
        </a:p>
      </dgm:t>
    </dgm:pt>
    <dgm:pt modelId="{16AE7993-0016-44E3-86E5-DE98D1B2AEB2}" type="sibTrans" cxnId="{D10143DD-BBB0-4D60-94CE-E969C77EE56D}">
      <dgm:prSet/>
      <dgm:spPr/>
      <dgm:t>
        <a:bodyPr/>
        <a:lstStyle/>
        <a:p>
          <a:endParaRPr lang="en-US"/>
        </a:p>
      </dgm:t>
    </dgm:pt>
    <dgm:pt modelId="{EBA76EF0-6BAB-4637-A7DB-C4DF6846ED00}">
      <dgm:prSet/>
      <dgm:spPr/>
      <dgm:t>
        <a:bodyPr/>
        <a:lstStyle/>
        <a:p>
          <a:r>
            <a:rPr lang="en-US" b="1" i="0" baseline="0"/>
            <a:t>2. Promote the value </a:t>
          </a:r>
          <a:r>
            <a:rPr lang="en-US" b="1"/>
            <a:t>for</a:t>
          </a:r>
          <a:r>
            <a:rPr lang="en-US" b="1" i="0" baseline="0"/>
            <a:t> commuting.</a:t>
          </a:r>
          <a:endParaRPr lang="en-US"/>
        </a:p>
      </dgm:t>
    </dgm:pt>
    <dgm:pt modelId="{F240DCBD-78CE-4EC1-8A6B-BCE5CBF76690}" type="parTrans" cxnId="{9707A3AD-5115-45A1-8961-EDA64AB5F8CA}">
      <dgm:prSet/>
      <dgm:spPr/>
      <dgm:t>
        <a:bodyPr/>
        <a:lstStyle/>
        <a:p>
          <a:endParaRPr lang="en-US"/>
        </a:p>
      </dgm:t>
    </dgm:pt>
    <dgm:pt modelId="{B8937A20-F68D-4B75-B376-C4C5CD7F6C91}" type="sibTrans" cxnId="{9707A3AD-5115-45A1-8961-EDA64AB5F8C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4434E24C-0B54-4A42-BE71-6A3146EB6A22}">
      <dgm:prSet/>
      <dgm:spPr/>
      <dgm:t>
        <a:bodyPr/>
        <a:lstStyle/>
        <a:p>
          <a:r>
            <a:rPr lang="en-US" b="0" i="0" baseline="0"/>
            <a:t>“Skip the traffic, the annual membership pays for itself in 5 weeks.”</a:t>
          </a:r>
          <a:endParaRPr lang="en-US"/>
        </a:p>
      </dgm:t>
    </dgm:pt>
    <dgm:pt modelId="{E37EE111-B328-47F2-A4BF-FD66D052DA46}" type="parTrans" cxnId="{DBDAE7B8-C1E1-4DC8-AC0B-39D42C6AD251}">
      <dgm:prSet/>
      <dgm:spPr/>
      <dgm:t>
        <a:bodyPr/>
        <a:lstStyle/>
        <a:p>
          <a:endParaRPr lang="en-US"/>
        </a:p>
      </dgm:t>
    </dgm:pt>
    <dgm:pt modelId="{8E11D03B-D806-48D1-BA11-811AC2BE586A}" type="sibTrans" cxnId="{DBDAE7B8-C1E1-4DC8-AC0B-39D42C6AD251}">
      <dgm:prSet/>
      <dgm:spPr/>
      <dgm:t>
        <a:bodyPr/>
        <a:lstStyle/>
        <a:p>
          <a:endParaRPr lang="en-US"/>
        </a:p>
      </dgm:t>
    </dgm:pt>
    <dgm:pt modelId="{A21425F7-5B9B-4B73-AA0B-CDFBB7FA4029}">
      <dgm:prSet/>
      <dgm:spPr/>
      <dgm:t>
        <a:bodyPr/>
        <a:lstStyle/>
        <a:p>
          <a:r>
            <a:rPr lang="en-US" b="1" i="0" baseline="0"/>
            <a:t>3. Create seasonal or trial memberships.</a:t>
          </a:r>
          <a:endParaRPr lang="en-US"/>
        </a:p>
      </dgm:t>
    </dgm:pt>
    <dgm:pt modelId="{17B21854-B7B8-42F7-BC3E-3D12603B8EE9}" type="parTrans" cxnId="{D72F142C-041D-4824-8652-FA5BD4A9736B}">
      <dgm:prSet/>
      <dgm:spPr/>
      <dgm:t>
        <a:bodyPr/>
        <a:lstStyle/>
        <a:p>
          <a:endParaRPr lang="en-US"/>
        </a:p>
      </dgm:t>
    </dgm:pt>
    <dgm:pt modelId="{16CD1C5D-441A-4D08-9877-F4E49218715B}" type="sibTrans" cxnId="{D72F142C-041D-4824-8652-FA5BD4A9736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B9CCB97-AE2C-4883-9983-3AFA76CC076D}">
      <dgm:prSet/>
      <dgm:spPr/>
      <dgm:t>
        <a:bodyPr/>
        <a:lstStyle/>
        <a:p>
          <a:r>
            <a:rPr lang="en-US" b="0" i="0" baseline="0"/>
            <a:t>Encourage casual riders to try weekday riding</a:t>
          </a:r>
          <a:endParaRPr lang="en-US"/>
        </a:p>
      </dgm:t>
    </dgm:pt>
    <dgm:pt modelId="{5FBA891C-48D8-4883-B7F9-7385BDB06000}" type="parTrans" cxnId="{4E8934B4-D002-409E-906E-910F20F43197}">
      <dgm:prSet/>
      <dgm:spPr/>
      <dgm:t>
        <a:bodyPr/>
        <a:lstStyle/>
        <a:p>
          <a:endParaRPr lang="en-US"/>
        </a:p>
      </dgm:t>
    </dgm:pt>
    <dgm:pt modelId="{BF879D74-3435-4AC4-9A15-686CF9FD4316}" type="sibTrans" cxnId="{4E8934B4-D002-409E-906E-910F20F43197}">
      <dgm:prSet/>
      <dgm:spPr/>
      <dgm:t>
        <a:bodyPr/>
        <a:lstStyle/>
        <a:p>
          <a:endParaRPr lang="en-US"/>
        </a:p>
      </dgm:t>
    </dgm:pt>
    <dgm:pt modelId="{29667CFE-A154-4304-B008-350186E4A01D}">
      <dgm:prSet/>
      <dgm:spPr/>
      <dgm:t>
        <a:bodyPr/>
        <a:lstStyle/>
        <a:p>
          <a:r>
            <a:rPr lang="en-US" b="1" i="0" baseline="0"/>
            <a:t>4. Offer conversion discounts at high-casual stations</a:t>
          </a:r>
          <a:endParaRPr lang="en-US"/>
        </a:p>
      </dgm:t>
    </dgm:pt>
    <dgm:pt modelId="{5A56DE4D-F3BD-4A55-BC9F-D5FDCCC82B43}" type="parTrans" cxnId="{66C87659-5144-4B76-9BCD-A5F8F68F532C}">
      <dgm:prSet/>
      <dgm:spPr/>
      <dgm:t>
        <a:bodyPr/>
        <a:lstStyle/>
        <a:p>
          <a:endParaRPr lang="en-US"/>
        </a:p>
      </dgm:t>
    </dgm:pt>
    <dgm:pt modelId="{62C7C04B-0BD4-47CD-8D1F-76319ABE1CA5}" type="sibTrans" cxnId="{66C87659-5144-4B76-9BCD-A5F8F68F532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9E0BF0A-F39F-4F9D-80B4-D87C82DF5160}" type="pres">
      <dgm:prSet presAssocID="{B257490E-17F0-4442-A2D6-DD3DEE9BC876}" presName="Name0" presStyleCnt="0">
        <dgm:presLayoutVars>
          <dgm:animLvl val="lvl"/>
          <dgm:resizeHandles val="exact"/>
        </dgm:presLayoutVars>
      </dgm:prSet>
      <dgm:spPr/>
    </dgm:pt>
    <dgm:pt modelId="{EE0AA608-3A63-47FE-9BD1-61289A1319C9}" type="pres">
      <dgm:prSet presAssocID="{97BCF2B5-FB0B-42C6-91AA-B3EEFD5E5CC5}" presName="compositeNode" presStyleCnt="0">
        <dgm:presLayoutVars>
          <dgm:bulletEnabled val="1"/>
        </dgm:presLayoutVars>
      </dgm:prSet>
      <dgm:spPr/>
    </dgm:pt>
    <dgm:pt modelId="{FE0CC277-DAE0-4F2D-A6A2-35F6EE9B6544}" type="pres">
      <dgm:prSet presAssocID="{97BCF2B5-FB0B-42C6-91AA-B3EEFD5E5CC5}" presName="bgRect" presStyleLbl="bgAccFollowNode1" presStyleIdx="0" presStyleCnt="4"/>
      <dgm:spPr/>
    </dgm:pt>
    <dgm:pt modelId="{BA2B51D3-B2FE-4A78-A83A-D2CAF3BD9058}" type="pres">
      <dgm:prSet presAssocID="{8EE14EB4-6E55-44DC-AABA-6ABE992476A1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B68025D6-3A8E-436F-8BCD-63022636E2B1}" type="pres">
      <dgm:prSet presAssocID="{97BCF2B5-FB0B-42C6-91AA-B3EEFD5E5CC5}" presName="bottomLine" presStyleLbl="alignNode1" presStyleIdx="1" presStyleCnt="8">
        <dgm:presLayoutVars/>
      </dgm:prSet>
      <dgm:spPr/>
    </dgm:pt>
    <dgm:pt modelId="{8D8E7E2C-E8D5-4269-AEDF-FCE2F023EC03}" type="pres">
      <dgm:prSet presAssocID="{97BCF2B5-FB0B-42C6-91AA-B3EEFD5E5CC5}" presName="nodeText" presStyleLbl="bgAccFollowNode1" presStyleIdx="0" presStyleCnt="4">
        <dgm:presLayoutVars>
          <dgm:bulletEnabled val="1"/>
        </dgm:presLayoutVars>
      </dgm:prSet>
      <dgm:spPr/>
    </dgm:pt>
    <dgm:pt modelId="{ECCD8745-B62E-405B-8620-EA36E5DBADEE}" type="pres">
      <dgm:prSet presAssocID="{8EE14EB4-6E55-44DC-AABA-6ABE992476A1}" presName="sibTrans" presStyleCnt="0"/>
      <dgm:spPr/>
    </dgm:pt>
    <dgm:pt modelId="{0FDA5E69-0D30-4426-BD70-41A740101C49}" type="pres">
      <dgm:prSet presAssocID="{EBA76EF0-6BAB-4637-A7DB-C4DF6846ED00}" presName="compositeNode" presStyleCnt="0">
        <dgm:presLayoutVars>
          <dgm:bulletEnabled val="1"/>
        </dgm:presLayoutVars>
      </dgm:prSet>
      <dgm:spPr/>
    </dgm:pt>
    <dgm:pt modelId="{1D87E928-79CA-4DBA-8507-30E5C55AF6AC}" type="pres">
      <dgm:prSet presAssocID="{EBA76EF0-6BAB-4637-A7DB-C4DF6846ED00}" presName="bgRect" presStyleLbl="bgAccFollowNode1" presStyleIdx="1" presStyleCnt="4"/>
      <dgm:spPr/>
    </dgm:pt>
    <dgm:pt modelId="{7FA522DC-FD22-4084-93CE-3E8986AD7BF4}" type="pres">
      <dgm:prSet presAssocID="{B8937A20-F68D-4B75-B376-C4C5CD7F6C9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0C783A49-3E9C-46F5-885B-FDCC7CC0B630}" type="pres">
      <dgm:prSet presAssocID="{EBA76EF0-6BAB-4637-A7DB-C4DF6846ED00}" presName="bottomLine" presStyleLbl="alignNode1" presStyleIdx="3" presStyleCnt="8">
        <dgm:presLayoutVars/>
      </dgm:prSet>
      <dgm:spPr/>
    </dgm:pt>
    <dgm:pt modelId="{3D184C12-541E-4BE9-87CD-479553B0DC52}" type="pres">
      <dgm:prSet presAssocID="{EBA76EF0-6BAB-4637-A7DB-C4DF6846ED00}" presName="nodeText" presStyleLbl="bgAccFollowNode1" presStyleIdx="1" presStyleCnt="4">
        <dgm:presLayoutVars>
          <dgm:bulletEnabled val="1"/>
        </dgm:presLayoutVars>
      </dgm:prSet>
      <dgm:spPr/>
    </dgm:pt>
    <dgm:pt modelId="{2B9AE9CF-52B1-4036-88EE-D8EB790F4C37}" type="pres">
      <dgm:prSet presAssocID="{B8937A20-F68D-4B75-B376-C4C5CD7F6C91}" presName="sibTrans" presStyleCnt="0"/>
      <dgm:spPr/>
    </dgm:pt>
    <dgm:pt modelId="{F7618350-1463-42A2-9F21-BBD828D9B7FB}" type="pres">
      <dgm:prSet presAssocID="{A21425F7-5B9B-4B73-AA0B-CDFBB7FA4029}" presName="compositeNode" presStyleCnt="0">
        <dgm:presLayoutVars>
          <dgm:bulletEnabled val="1"/>
        </dgm:presLayoutVars>
      </dgm:prSet>
      <dgm:spPr/>
    </dgm:pt>
    <dgm:pt modelId="{3E6A4FB6-AD74-42C6-AEAC-A14B85304F9D}" type="pres">
      <dgm:prSet presAssocID="{A21425F7-5B9B-4B73-AA0B-CDFBB7FA4029}" presName="bgRect" presStyleLbl="bgAccFollowNode1" presStyleIdx="2" presStyleCnt="4"/>
      <dgm:spPr/>
    </dgm:pt>
    <dgm:pt modelId="{BC5FAC7F-97F1-4990-8942-7E3151FA809C}" type="pres">
      <dgm:prSet presAssocID="{16CD1C5D-441A-4D08-9877-F4E49218715B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2C151B5-FF0E-429A-AEF8-33BA4EC7C11A}" type="pres">
      <dgm:prSet presAssocID="{A21425F7-5B9B-4B73-AA0B-CDFBB7FA4029}" presName="bottomLine" presStyleLbl="alignNode1" presStyleIdx="5" presStyleCnt="8">
        <dgm:presLayoutVars/>
      </dgm:prSet>
      <dgm:spPr/>
    </dgm:pt>
    <dgm:pt modelId="{C99A9AF1-2327-471F-9197-67CD6627D1A6}" type="pres">
      <dgm:prSet presAssocID="{A21425F7-5B9B-4B73-AA0B-CDFBB7FA4029}" presName="nodeText" presStyleLbl="bgAccFollowNode1" presStyleIdx="2" presStyleCnt="4">
        <dgm:presLayoutVars>
          <dgm:bulletEnabled val="1"/>
        </dgm:presLayoutVars>
      </dgm:prSet>
      <dgm:spPr/>
    </dgm:pt>
    <dgm:pt modelId="{EB74F1E5-8F6E-4EE6-9F13-E2F66C37C53E}" type="pres">
      <dgm:prSet presAssocID="{16CD1C5D-441A-4D08-9877-F4E49218715B}" presName="sibTrans" presStyleCnt="0"/>
      <dgm:spPr/>
    </dgm:pt>
    <dgm:pt modelId="{F4234BBF-F110-4D87-93FD-1A1C03A231A9}" type="pres">
      <dgm:prSet presAssocID="{29667CFE-A154-4304-B008-350186E4A01D}" presName="compositeNode" presStyleCnt="0">
        <dgm:presLayoutVars>
          <dgm:bulletEnabled val="1"/>
        </dgm:presLayoutVars>
      </dgm:prSet>
      <dgm:spPr/>
    </dgm:pt>
    <dgm:pt modelId="{97F8CEDE-3F17-413F-A036-1D5850A9D654}" type="pres">
      <dgm:prSet presAssocID="{29667CFE-A154-4304-B008-350186E4A01D}" presName="bgRect" presStyleLbl="bgAccFollowNode1" presStyleIdx="3" presStyleCnt="4"/>
      <dgm:spPr/>
    </dgm:pt>
    <dgm:pt modelId="{418E1C6D-6FB6-4429-A2C7-B1693F6019B4}" type="pres">
      <dgm:prSet presAssocID="{62C7C04B-0BD4-47CD-8D1F-76319ABE1CA5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97B96404-352D-4E15-AC9D-B64497958581}" type="pres">
      <dgm:prSet presAssocID="{29667CFE-A154-4304-B008-350186E4A01D}" presName="bottomLine" presStyleLbl="alignNode1" presStyleIdx="7" presStyleCnt="8">
        <dgm:presLayoutVars/>
      </dgm:prSet>
      <dgm:spPr/>
    </dgm:pt>
    <dgm:pt modelId="{AAC7A6DE-B9FE-49DD-AC6B-041E47638E0B}" type="pres">
      <dgm:prSet presAssocID="{29667CFE-A154-4304-B008-350186E4A01D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88CE1501-9322-454E-9C22-BB69C6CC28A2}" type="presOf" srcId="{97BCF2B5-FB0B-42C6-91AA-B3EEFD5E5CC5}" destId="{8D8E7E2C-E8D5-4269-AEDF-FCE2F023EC03}" srcOrd="1" destOrd="0" presId="urn:microsoft.com/office/officeart/2016/7/layout/BasicLinearProcessNumbered"/>
    <dgm:cxn modelId="{02945714-832B-4021-A78A-FE684B9A5151}" type="presOf" srcId="{EBA76EF0-6BAB-4637-A7DB-C4DF6846ED00}" destId="{1D87E928-79CA-4DBA-8507-30E5C55AF6AC}" srcOrd="0" destOrd="0" presId="urn:microsoft.com/office/officeart/2016/7/layout/BasicLinearProcessNumbered"/>
    <dgm:cxn modelId="{B5D7A41D-DB0D-40FD-A614-3EEB3D48B322}" type="presOf" srcId="{392899B6-3E86-4A57-9763-18F6324EB260}" destId="{8D8E7E2C-E8D5-4269-AEDF-FCE2F023EC03}" srcOrd="0" destOrd="2" presId="urn:microsoft.com/office/officeart/2016/7/layout/BasicLinearProcessNumbered"/>
    <dgm:cxn modelId="{D72F142C-041D-4824-8652-FA5BD4A9736B}" srcId="{B257490E-17F0-4442-A2D6-DD3DEE9BC876}" destId="{A21425F7-5B9B-4B73-AA0B-CDFBB7FA4029}" srcOrd="2" destOrd="0" parTransId="{17B21854-B7B8-42F7-BC3E-3D12603B8EE9}" sibTransId="{16CD1C5D-441A-4D08-9877-F4E49218715B}"/>
    <dgm:cxn modelId="{91D2633A-1659-4002-9658-029D76932ED4}" type="presOf" srcId="{4434E24C-0B54-4A42-BE71-6A3146EB6A22}" destId="{3D184C12-541E-4BE9-87CD-479553B0DC52}" srcOrd="0" destOrd="1" presId="urn:microsoft.com/office/officeart/2016/7/layout/BasicLinearProcessNumbered"/>
    <dgm:cxn modelId="{A4913969-63AB-4244-86A1-529FAE14DFA9}" type="presOf" srcId="{29667CFE-A154-4304-B008-350186E4A01D}" destId="{97F8CEDE-3F17-413F-A036-1D5850A9D654}" srcOrd="0" destOrd="0" presId="urn:microsoft.com/office/officeart/2016/7/layout/BasicLinearProcessNumbered"/>
    <dgm:cxn modelId="{F664316A-3FF5-4A5E-8A88-B367880D9DFA}" srcId="{97BCF2B5-FB0B-42C6-91AA-B3EEFD5E5CC5}" destId="{E57AC179-9A77-4E3C-96E5-7EB61DDEF5F9}" srcOrd="0" destOrd="0" parTransId="{F91F7C80-A904-4862-B0DB-C0CA37377107}" sibTransId="{6BCA0C72-C301-4235-BA22-5FB3C458497A}"/>
    <dgm:cxn modelId="{0EEF726C-55B6-48E8-B00B-8F52B75DBF50}" type="presOf" srcId="{29667CFE-A154-4304-B008-350186E4A01D}" destId="{AAC7A6DE-B9FE-49DD-AC6B-041E47638E0B}" srcOrd="1" destOrd="0" presId="urn:microsoft.com/office/officeart/2016/7/layout/BasicLinearProcessNumbered"/>
    <dgm:cxn modelId="{3F6BAB57-6D3D-4C7D-B74C-88BA6648EDBD}" type="presOf" srcId="{62C7C04B-0BD4-47CD-8D1F-76319ABE1CA5}" destId="{418E1C6D-6FB6-4429-A2C7-B1693F6019B4}" srcOrd="0" destOrd="0" presId="urn:microsoft.com/office/officeart/2016/7/layout/BasicLinearProcessNumbered"/>
    <dgm:cxn modelId="{66C87659-5144-4B76-9BCD-A5F8F68F532C}" srcId="{B257490E-17F0-4442-A2D6-DD3DEE9BC876}" destId="{29667CFE-A154-4304-B008-350186E4A01D}" srcOrd="3" destOrd="0" parTransId="{5A56DE4D-F3BD-4A55-BC9F-D5FDCCC82B43}" sibTransId="{62C7C04B-0BD4-47CD-8D1F-76319ABE1CA5}"/>
    <dgm:cxn modelId="{2746E679-421A-4C06-86FB-8D07D252F39F}" type="presOf" srcId="{8EE14EB4-6E55-44DC-AABA-6ABE992476A1}" destId="{BA2B51D3-B2FE-4A78-A83A-D2CAF3BD9058}" srcOrd="0" destOrd="0" presId="urn:microsoft.com/office/officeart/2016/7/layout/BasicLinearProcessNumbered"/>
    <dgm:cxn modelId="{78B73C7C-104D-4C5F-9BD5-62D9E188F7CD}" type="presOf" srcId="{A21425F7-5B9B-4B73-AA0B-CDFBB7FA4029}" destId="{3E6A4FB6-AD74-42C6-AEAC-A14B85304F9D}" srcOrd="0" destOrd="0" presId="urn:microsoft.com/office/officeart/2016/7/layout/BasicLinearProcessNumbered"/>
    <dgm:cxn modelId="{7715C896-9CB8-4562-9B3D-C805CE65AB2C}" type="presOf" srcId="{A21425F7-5B9B-4B73-AA0B-CDFBB7FA4029}" destId="{C99A9AF1-2327-471F-9197-67CD6627D1A6}" srcOrd="1" destOrd="0" presId="urn:microsoft.com/office/officeart/2016/7/layout/BasicLinearProcessNumbered"/>
    <dgm:cxn modelId="{ABF0D1A1-8183-488A-96AD-FFBBF132CC35}" type="presOf" srcId="{B257490E-17F0-4442-A2D6-DD3DEE9BC876}" destId="{19E0BF0A-F39F-4F9D-80B4-D87C82DF5160}" srcOrd="0" destOrd="0" presId="urn:microsoft.com/office/officeart/2016/7/layout/BasicLinearProcessNumbered"/>
    <dgm:cxn modelId="{EFF13EA5-B11C-49C7-BC6C-5BF06B9D39BA}" type="presOf" srcId="{EBA76EF0-6BAB-4637-A7DB-C4DF6846ED00}" destId="{3D184C12-541E-4BE9-87CD-479553B0DC52}" srcOrd="1" destOrd="0" presId="urn:microsoft.com/office/officeart/2016/7/layout/BasicLinearProcessNumbered"/>
    <dgm:cxn modelId="{9707A3AD-5115-45A1-8961-EDA64AB5F8CA}" srcId="{B257490E-17F0-4442-A2D6-DD3DEE9BC876}" destId="{EBA76EF0-6BAB-4637-A7DB-C4DF6846ED00}" srcOrd="1" destOrd="0" parTransId="{F240DCBD-78CE-4EC1-8A6B-BCE5CBF76690}" sibTransId="{B8937A20-F68D-4B75-B376-C4C5CD7F6C91}"/>
    <dgm:cxn modelId="{4E8934B4-D002-409E-906E-910F20F43197}" srcId="{A21425F7-5B9B-4B73-AA0B-CDFBB7FA4029}" destId="{7B9CCB97-AE2C-4883-9983-3AFA76CC076D}" srcOrd="0" destOrd="0" parTransId="{5FBA891C-48D8-4883-B7F9-7385BDB06000}" sibTransId="{BF879D74-3435-4AC4-9A15-686CF9FD4316}"/>
    <dgm:cxn modelId="{DBDAE7B8-C1E1-4DC8-AC0B-39D42C6AD251}" srcId="{EBA76EF0-6BAB-4637-A7DB-C4DF6846ED00}" destId="{4434E24C-0B54-4A42-BE71-6A3146EB6A22}" srcOrd="0" destOrd="0" parTransId="{E37EE111-B328-47F2-A4BF-FD66D052DA46}" sibTransId="{8E11D03B-D806-48D1-BA11-811AC2BE586A}"/>
    <dgm:cxn modelId="{FFE622BC-0C94-4817-A0F5-40176432CDEF}" type="presOf" srcId="{E57AC179-9A77-4E3C-96E5-7EB61DDEF5F9}" destId="{8D8E7E2C-E8D5-4269-AEDF-FCE2F023EC03}" srcOrd="0" destOrd="1" presId="urn:microsoft.com/office/officeart/2016/7/layout/BasicLinearProcessNumbered"/>
    <dgm:cxn modelId="{23D0B0D5-5EB6-4751-B0CB-47DA56DD27E6}" type="presOf" srcId="{7B9CCB97-AE2C-4883-9983-3AFA76CC076D}" destId="{C99A9AF1-2327-471F-9197-67CD6627D1A6}" srcOrd="0" destOrd="1" presId="urn:microsoft.com/office/officeart/2016/7/layout/BasicLinearProcessNumbered"/>
    <dgm:cxn modelId="{749F97D9-8034-4A62-AA30-C5A7B663970B}" srcId="{B257490E-17F0-4442-A2D6-DD3DEE9BC876}" destId="{97BCF2B5-FB0B-42C6-91AA-B3EEFD5E5CC5}" srcOrd="0" destOrd="0" parTransId="{90256CFD-81F9-49AD-8861-5F6B3EC3817B}" sibTransId="{8EE14EB4-6E55-44DC-AABA-6ABE992476A1}"/>
    <dgm:cxn modelId="{D10143DD-BBB0-4D60-94CE-E969C77EE56D}" srcId="{97BCF2B5-FB0B-42C6-91AA-B3EEFD5E5CC5}" destId="{392899B6-3E86-4A57-9763-18F6324EB260}" srcOrd="1" destOrd="0" parTransId="{B7F00066-0248-489F-83E7-4DB486A65A69}" sibTransId="{16AE7993-0016-44E3-86E5-DE98D1B2AEB2}"/>
    <dgm:cxn modelId="{074745E6-A016-4834-B66C-CF36334EEBAE}" type="presOf" srcId="{B8937A20-F68D-4B75-B376-C4C5CD7F6C91}" destId="{7FA522DC-FD22-4084-93CE-3E8986AD7BF4}" srcOrd="0" destOrd="0" presId="urn:microsoft.com/office/officeart/2016/7/layout/BasicLinearProcessNumbered"/>
    <dgm:cxn modelId="{C915B2EA-52B5-4523-8A34-3937AC4E80F1}" type="presOf" srcId="{16CD1C5D-441A-4D08-9877-F4E49218715B}" destId="{BC5FAC7F-97F1-4990-8942-7E3151FA809C}" srcOrd="0" destOrd="0" presId="urn:microsoft.com/office/officeart/2016/7/layout/BasicLinearProcessNumbered"/>
    <dgm:cxn modelId="{69B1F3EB-FCE2-42DA-9040-DEBF401CD59F}" type="presOf" srcId="{97BCF2B5-FB0B-42C6-91AA-B3EEFD5E5CC5}" destId="{FE0CC277-DAE0-4F2D-A6A2-35F6EE9B6544}" srcOrd="0" destOrd="0" presId="urn:microsoft.com/office/officeart/2016/7/layout/BasicLinearProcessNumbered"/>
    <dgm:cxn modelId="{93DECE83-59A9-4753-9C52-710FEC0FAC79}" type="presParOf" srcId="{19E0BF0A-F39F-4F9D-80B4-D87C82DF5160}" destId="{EE0AA608-3A63-47FE-9BD1-61289A1319C9}" srcOrd="0" destOrd="0" presId="urn:microsoft.com/office/officeart/2016/7/layout/BasicLinearProcessNumbered"/>
    <dgm:cxn modelId="{8313F46D-11AF-46E5-B36B-0CA3D8C9BC77}" type="presParOf" srcId="{EE0AA608-3A63-47FE-9BD1-61289A1319C9}" destId="{FE0CC277-DAE0-4F2D-A6A2-35F6EE9B6544}" srcOrd="0" destOrd="0" presId="urn:microsoft.com/office/officeart/2016/7/layout/BasicLinearProcessNumbered"/>
    <dgm:cxn modelId="{F2467DD2-4BC5-43B6-BF6E-2F7D361B6F76}" type="presParOf" srcId="{EE0AA608-3A63-47FE-9BD1-61289A1319C9}" destId="{BA2B51D3-B2FE-4A78-A83A-D2CAF3BD9058}" srcOrd="1" destOrd="0" presId="urn:microsoft.com/office/officeart/2016/7/layout/BasicLinearProcessNumbered"/>
    <dgm:cxn modelId="{9EF39C99-1BC8-49D0-92AD-3483DAC46D44}" type="presParOf" srcId="{EE0AA608-3A63-47FE-9BD1-61289A1319C9}" destId="{B68025D6-3A8E-436F-8BCD-63022636E2B1}" srcOrd="2" destOrd="0" presId="urn:microsoft.com/office/officeart/2016/7/layout/BasicLinearProcessNumbered"/>
    <dgm:cxn modelId="{DC3B654A-139C-44B0-981F-3E5677E06B29}" type="presParOf" srcId="{EE0AA608-3A63-47FE-9BD1-61289A1319C9}" destId="{8D8E7E2C-E8D5-4269-AEDF-FCE2F023EC03}" srcOrd="3" destOrd="0" presId="urn:microsoft.com/office/officeart/2016/7/layout/BasicLinearProcessNumbered"/>
    <dgm:cxn modelId="{0FE350CC-8694-49C5-AC27-E6ED46761ACB}" type="presParOf" srcId="{19E0BF0A-F39F-4F9D-80B4-D87C82DF5160}" destId="{ECCD8745-B62E-405B-8620-EA36E5DBADEE}" srcOrd="1" destOrd="0" presId="urn:microsoft.com/office/officeart/2016/7/layout/BasicLinearProcessNumbered"/>
    <dgm:cxn modelId="{531D403B-A53C-4F67-AF28-14EE760842C1}" type="presParOf" srcId="{19E0BF0A-F39F-4F9D-80B4-D87C82DF5160}" destId="{0FDA5E69-0D30-4426-BD70-41A740101C49}" srcOrd="2" destOrd="0" presId="urn:microsoft.com/office/officeart/2016/7/layout/BasicLinearProcessNumbered"/>
    <dgm:cxn modelId="{1B0D9744-EC95-4051-A024-6311A83A744D}" type="presParOf" srcId="{0FDA5E69-0D30-4426-BD70-41A740101C49}" destId="{1D87E928-79CA-4DBA-8507-30E5C55AF6AC}" srcOrd="0" destOrd="0" presId="urn:microsoft.com/office/officeart/2016/7/layout/BasicLinearProcessNumbered"/>
    <dgm:cxn modelId="{8663EDE2-ADC1-47A5-97E1-1099C4600210}" type="presParOf" srcId="{0FDA5E69-0D30-4426-BD70-41A740101C49}" destId="{7FA522DC-FD22-4084-93CE-3E8986AD7BF4}" srcOrd="1" destOrd="0" presId="urn:microsoft.com/office/officeart/2016/7/layout/BasicLinearProcessNumbered"/>
    <dgm:cxn modelId="{CB9E83EB-2655-4ED0-80CC-04D8437A9AF3}" type="presParOf" srcId="{0FDA5E69-0D30-4426-BD70-41A740101C49}" destId="{0C783A49-3E9C-46F5-885B-FDCC7CC0B630}" srcOrd="2" destOrd="0" presId="urn:microsoft.com/office/officeart/2016/7/layout/BasicLinearProcessNumbered"/>
    <dgm:cxn modelId="{77E11455-C31D-47BD-AE7B-4ADB20B983EA}" type="presParOf" srcId="{0FDA5E69-0D30-4426-BD70-41A740101C49}" destId="{3D184C12-541E-4BE9-87CD-479553B0DC52}" srcOrd="3" destOrd="0" presId="urn:microsoft.com/office/officeart/2016/7/layout/BasicLinearProcessNumbered"/>
    <dgm:cxn modelId="{AC920EC4-63DE-4081-994D-FE05344A2CFA}" type="presParOf" srcId="{19E0BF0A-F39F-4F9D-80B4-D87C82DF5160}" destId="{2B9AE9CF-52B1-4036-88EE-D8EB790F4C37}" srcOrd="3" destOrd="0" presId="urn:microsoft.com/office/officeart/2016/7/layout/BasicLinearProcessNumbered"/>
    <dgm:cxn modelId="{E6C7387D-8036-4906-BD06-0B3F95BC8346}" type="presParOf" srcId="{19E0BF0A-F39F-4F9D-80B4-D87C82DF5160}" destId="{F7618350-1463-42A2-9F21-BBD828D9B7FB}" srcOrd="4" destOrd="0" presId="urn:microsoft.com/office/officeart/2016/7/layout/BasicLinearProcessNumbered"/>
    <dgm:cxn modelId="{7F405273-85DC-4459-9F63-1515AA977CD6}" type="presParOf" srcId="{F7618350-1463-42A2-9F21-BBD828D9B7FB}" destId="{3E6A4FB6-AD74-42C6-AEAC-A14B85304F9D}" srcOrd="0" destOrd="0" presId="urn:microsoft.com/office/officeart/2016/7/layout/BasicLinearProcessNumbered"/>
    <dgm:cxn modelId="{A9C92CC0-36AC-42F8-96CE-EB6C1FD528D0}" type="presParOf" srcId="{F7618350-1463-42A2-9F21-BBD828D9B7FB}" destId="{BC5FAC7F-97F1-4990-8942-7E3151FA809C}" srcOrd="1" destOrd="0" presId="urn:microsoft.com/office/officeart/2016/7/layout/BasicLinearProcessNumbered"/>
    <dgm:cxn modelId="{FA01CB20-2AC5-4129-B927-35CDBF2F19E0}" type="presParOf" srcId="{F7618350-1463-42A2-9F21-BBD828D9B7FB}" destId="{12C151B5-FF0E-429A-AEF8-33BA4EC7C11A}" srcOrd="2" destOrd="0" presId="urn:microsoft.com/office/officeart/2016/7/layout/BasicLinearProcessNumbered"/>
    <dgm:cxn modelId="{C2027010-CCB2-46CD-84BE-CEEDEEB229F0}" type="presParOf" srcId="{F7618350-1463-42A2-9F21-BBD828D9B7FB}" destId="{C99A9AF1-2327-471F-9197-67CD6627D1A6}" srcOrd="3" destOrd="0" presId="urn:microsoft.com/office/officeart/2016/7/layout/BasicLinearProcessNumbered"/>
    <dgm:cxn modelId="{A18A203F-B927-492C-9819-FC0573240212}" type="presParOf" srcId="{19E0BF0A-F39F-4F9D-80B4-D87C82DF5160}" destId="{EB74F1E5-8F6E-4EE6-9F13-E2F66C37C53E}" srcOrd="5" destOrd="0" presId="urn:microsoft.com/office/officeart/2016/7/layout/BasicLinearProcessNumbered"/>
    <dgm:cxn modelId="{E2C11BC6-360F-4F63-8CA7-B7B0405F9CCD}" type="presParOf" srcId="{19E0BF0A-F39F-4F9D-80B4-D87C82DF5160}" destId="{F4234BBF-F110-4D87-93FD-1A1C03A231A9}" srcOrd="6" destOrd="0" presId="urn:microsoft.com/office/officeart/2016/7/layout/BasicLinearProcessNumbered"/>
    <dgm:cxn modelId="{F49133D2-46B0-4CB5-B446-D33ED1DF4097}" type="presParOf" srcId="{F4234BBF-F110-4D87-93FD-1A1C03A231A9}" destId="{97F8CEDE-3F17-413F-A036-1D5850A9D654}" srcOrd="0" destOrd="0" presId="urn:microsoft.com/office/officeart/2016/7/layout/BasicLinearProcessNumbered"/>
    <dgm:cxn modelId="{89157EC2-8DEC-4B05-A8DA-BF2808B6869E}" type="presParOf" srcId="{F4234BBF-F110-4D87-93FD-1A1C03A231A9}" destId="{418E1C6D-6FB6-4429-A2C7-B1693F6019B4}" srcOrd="1" destOrd="0" presId="urn:microsoft.com/office/officeart/2016/7/layout/BasicLinearProcessNumbered"/>
    <dgm:cxn modelId="{11D4862F-385B-4B36-A35D-C4D37FFD3BF9}" type="presParOf" srcId="{F4234BBF-F110-4D87-93FD-1A1C03A231A9}" destId="{97B96404-352D-4E15-AC9D-B64497958581}" srcOrd="2" destOrd="0" presId="urn:microsoft.com/office/officeart/2016/7/layout/BasicLinearProcessNumbered"/>
    <dgm:cxn modelId="{962F775B-8552-4654-B842-E5FCDCADCE6D}" type="presParOf" srcId="{F4234BBF-F110-4D87-93FD-1A1C03A231A9}" destId="{AAC7A6DE-B9FE-49DD-AC6B-041E47638E0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0CC277-DAE0-4F2D-A6A2-35F6EE9B6544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1. Target casual riders on weekends with membership messaging.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Ads at Lakeshore kiosks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In-app popups during long leisure rides</a:t>
          </a:r>
          <a:endParaRPr lang="en-US" sz="1200" kern="1200"/>
        </a:p>
      </dsp:txBody>
      <dsp:txXfrm>
        <a:off x="3201" y="1669704"/>
        <a:ext cx="2539866" cy="2133487"/>
      </dsp:txXfrm>
    </dsp:sp>
    <dsp:sp modelId="{BA2B51D3-B2FE-4A78-A83A-D2CAF3BD9058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B68025D6-3A8E-436F-8BCD-63022636E2B1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7E928-79CA-4DBA-8507-30E5C55AF6AC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2. Promote the value </a:t>
          </a:r>
          <a:r>
            <a:rPr lang="en-US" sz="1500" b="1" kern="1200"/>
            <a:t>for</a:t>
          </a:r>
          <a:r>
            <a:rPr lang="en-US" sz="1500" b="1" i="0" kern="1200" baseline="0"/>
            <a:t> commuting.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“Skip the traffic, the annual membership pays for itself in 5 weeks.”</a:t>
          </a:r>
          <a:endParaRPr lang="en-US" sz="1200" kern="1200"/>
        </a:p>
      </dsp:txBody>
      <dsp:txXfrm>
        <a:off x="2797054" y="1669704"/>
        <a:ext cx="2539866" cy="2133487"/>
      </dsp:txXfrm>
    </dsp:sp>
    <dsp:sp modelId="{7FA522DC-FD22-4084-93CE-3E8986AD7BF4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0C783A49-3E9C-46F5-885B-FDCC7CC0B630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6A4FB6-AD74-42C6-AEAC-A14B85304F9D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3. Create seasonal or trial memberships.</a:t>
          </a:r>
          <a:endParaRPr lang="en-US" sz="15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baseline="0"/>
            <a:t>Encourage casual riders to try weekday riding</a:t>
          </a:r>
          <a:endParaRPr lang="en-US" sz="1200" kern="1200"/>
        </a:p>
      </dsp:txBody>
      <dsp:txXfrm>
        <a:off x="5590907" y="1669704"/>
        <a:ext cx="2539866" cy="2133487"/>
      </dsp:txXfrm>
    </dsp:sp>
    <dsp:sp modelId="{BC5FAC7F-97F1-4990-8942-7E3151FA809C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12C151B5-FF0E-429A-AEF8-33BA4EC7C11A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8CEDE-3F17-413F-A036-1D5850A9D654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/>
            <a:t>4. Offer conversion discounts at high-casual stations</a:t>
          </a:r>
          <a:endParaRPr lang="en-US" sz="1500" kern="1200"/>
        </a:p>
      </dsp:txBody>
      <dsp:txXfrm>
        <a:off x="8384760" y="1669704"/>
        <a:ext cx="2539866" cy="2133487"/>
      </dsp:txXfrm>
    </dsp:sp>
    <dsp:sp modelId="{418E1C6D-6FB6-4429-A2C7-B1693F6019B4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97B96404-352D-4E15-AC9D-B64497958581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7CB85-C3AF-4B97-A9AB-111623E67D3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FAF13-2977-480D-A43D-1A2240A0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5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how each group rides helps us design marketing that converts casual riders into annual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FAF13-2977-480D-A43D-1A2240A0AD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1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C1D9-D03F-F029-239B-BB4C25E20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68E9B-E35D-8DA7-1826-28A0CDD8C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E2E4-076C-B1FE-AA5D-968455A0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8AC8-5DF2-1EDF-6CC0-A20A4E3C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99C1B-7540-8049-65B2-4C3CB9CBC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0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4C58-F4EF-87F3-9F46-31E5A168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B60F-4982-FF7B-1EA7-88B5024B7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AA1FD-9A73-B398-0701-3917F09F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974B0-07F0-EC20-BF34-46CBCBE5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86720-0101-0415-6C34-6443A123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5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53A2-BBEA-8744-9D9D-C1C07801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33C72-B4BB-E057-2E5B-7254762F9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C3BFB-1144-D943-9E45-8BA73CD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325E0-3D42-1A27-8CCC-A588040B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EE5FF-2CDF-C5CD-26AB-3A6048A6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6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D0DB-2282-1768-842D-FDE74F66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8332-2079-536E-291D-4979D1A06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28982-37D1-C0A2-9802-2C205E7B7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A2F7B-B588-63EB-24E0-8FE28BDE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AF8F-EB79-F61F-2FEF-A1EBACAE2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C1D72-DCFE-984B-5568-063D513F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8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F113-0D87-7B77-78F9-3BB39A48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74212-7285-2F53-50DE-84566757C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8B95-D37E-380D-E7AD-7E4D3A261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B164C-CA5D-266D-BD83-294DE630C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E57BD-BD94-968A-656D-9D2C30A51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D4168A-C3B6-2CDD-DE75-54DDC64F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51DE9-ADC1-13D8-6D4C-880334D1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755F5-2D17-0B98-7A73-D1F6CC86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5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4364-DE62-D488-5648-ED49AB49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876B2-F1AA-2854-2593-110E3572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7677E-8D77-FA64-2B9D-1C7790437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26145-3108-2C0D-F45B-C5F29496D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4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19399-0612-1C23-4D19-B4558749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3CDF3-9959-6AA7-6D0A-ECDC4A91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62102-9A3F-63F0-9456-99A8502E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6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CD150-79B8-12E3-3C32-553946CB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C531D-325A-3B35-5D06-7D8F09321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6C0D8B-28C0-D53E-294D-E160A34B2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7A7CE-0612-7309-4EC2-DA932231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EF653-5E4E-03D9-7E3A-B61CDC10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39B15-CC70-BF46-673C-D7F8C525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6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D3659-9E26-1366-4945-3F12D7F5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AB646-61D6-6351-6E5F-35ACD192A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F4487-7F70-A321-45B9-3B85D6192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95711-13D2-BD80-068A-A6C80B83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F39D5-6C94-5452-3444-50A79D9B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69806-BB25-6486-55F9-FC9C24E0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4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FC3F-B2BF-EFA7-0991-E749A7E03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C7E8D-BD85-0496-0E89-04EEB8B91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1B7C-468E-BB5D-5422-52D30405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7D086-F55C-E2C0-E05E-5FD327CFF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34265-6719-E62E-B8C1-8FE5FD72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20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D07D4-273D-4783-70BE-5FCA618A8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4770A-286C-A496-C5F9-A13A0928A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68CDF-F87C-AB3A-4E57-DC639979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A2EE8-41A1-0AAA-32B7-2743C3EB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B2A9D-16F9-9F60-65FB-9C3D8BFF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5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D42AF-2AFA-A233-0C41-FF7FC64D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9B24B-FF43-C487-ED90-9A818E5DB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D1BA9-D5B7-14AA-6616-0AC042816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E6E60-1379-414E-A7E6-F226F0D50C8B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E22B2-9923-891D-DB3D-C673FF0F2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C9E35-9A4D-1202-72AD-D907C9A47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128DF2-677E-47A6-B2A1-3196E0682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538EBC2-0B11-4732-8715-799409C4A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F78C9-F92C-087D-D7AF-9F714F0FC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2838938"/>
          </a:xfrm>
        </p:spPr>
        <p:txBody>
          <a:bodyPr>
            <a:normAutofit/>
          </a:bodyPr>
          <a:lstStyle/>
          <a:p>
            <a:pPr algn="l"/>
            <a:r>
              <a:rPr lang="en-US" sz="5600">
                <a:solidFill>
                  <a:srgbClr val="FFFFFF"/>
                </a:solidFill>
              </a:rPr>
              <a:t>Cyclistic Insights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0FF63-13A6-5C62-E7FD-313EAF279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Dawson Gronemus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for a bike share">
            <a:extLst>
              <a:ext uri="{FF2B5EF4-FFF2-40B4-BE49-F238E27FC236}">
                <a16:creationId xmlns:a16="http://schemas.microsoft.com/office/drawing/2014/main" id="{48C93C9D-A4CD-B5E5-29A9-DE0D0378F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824" y="2364538"/>
            <a:ext cx="4003797" cy="3948572"/>
          </a:xfrm>
          <a:prstGeom prst="rect">
            <a:avLst/>
          </a:prstGeom>
        </p:spPr>
      </p:pic>
      <p:sp>
        <p:nvSpPr>
          <p:cNvPr id="24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20768" y="229592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9518" y="275600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8003" y="634483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7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2051-7AA5-1872-8D40-793983B8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F877B-5AFD-0E97-DCD9-79A96790F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Source: 12 months of Cyclistic data on bike share rides throughout downtown Chicago</a:t>
            </a:r>
          </a:p>
          <a:p>
            <a:r>
              <a:rPr lang="en-US" dirty="0"/>
              <a:t>Total Rides Analyzed: 5,585,0044</a:t>
            </a:r>
          </a:p>
          <a:p>
            <a:r>
              <a:rPr lang="en-US" dirty="0"/>
              <a:t>Key Question: How do annual members and casual riders use Cyclistic bikes differently?</a:t>
            </a:r>
          </a:p>
        </p:txBody>
      </p:sp>
    </p:spTree>
    <p:extLst>
      <p:ext uri="{BB962C8B-B14F-4D97-AF65-F5344CB8AC3E}">
        <p14:creationId xmlns:p14="http://schemas.microsoft.com/office/powerpoint/2010/main" val="293428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BE16-6D74-AF71-74B1-47860C31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AA21-0131-8D2B-E59D-0BF8E2DF9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6366" cy="4351338"/>
          </a:xfrm>
        </p:spPr>
        <p:txBody>
          <a:bodyPr/>
          <a:lstStyle/>
          <a:p>
            <a:r>
              <a:rPr lang="en-US" dirty="0"/>
              <a:t>Removed invalid/negative ride lengths</a:t>
            </a:r>
          </a:p>
          <a:p>
            <a:r>
              <a:rPr lang="en-US" dirty="0"/>
              <a:t>Filtered out trips &gt; 24 hours</a:t>
            </a:r>
          </a:p>
          <a:p>
            <a:r>
              <a:rPr lang="en-US" dirty="0"/>
              <a:t>Removed null values</a:t>
            </a:r>
          </a:p>
          <a:p>
            <a:r>
              <a:rPr lang="en-US" dirty="0"/>
              <a:t>Added 4 new Fields: </a:t>
            </a:r>
            <a:r>
              <a:rPr lang="en-US" dirty="0" err="1"/>
              <a:t>ride_length</a:t>
            </a:r>
            <a:r>
              <a:rPr lang="en-US" dirty="0"/>
              <a:t>, day_of_week, hour, and </a:t>
            </a:r>
            <a:r>
              <a:rPr lang="en-US" dirty="0" err="1"/>
              <a:t>is_weekend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E48A24-DD93-DE5B-E1A3-0F3AB2CE2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416" y="272182"/>
            <a:ext cx="3648584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2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46722-435C-BCD2-3D47-2C488079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Rides by Rider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BF6F-A65E-F44E-7874-189C47D60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5691" y="239598"/>
            <a:ext cx="3869473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Finding:</a:t>
            </a:r>
            <a:r>
              <a:rPr lang="en-US" sz="18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Members take significantly more total rides annually, reflecting consistent usage patterns</a:t>
            </a:r>
          </a:p>
        </p:txBody>
      </p:sp>
      <p:pic>
        <p:nvPicPr>
          <p:cNvPr id="6" name="Content Placeholder 5" descr="A graph of a graph with blue and orange bars&#10;&#10;AI-generated content may be incorrect.">
            <a:extLst>
              <a:ext uri="{FF2B5EF4-FFF2-40B4-BE49-F238E27FC236}">
                <a16:creationId xmlns:a16="http://schemas.microsoft.com/office/drawing/2014/main" id="{1B4AD575-10C7-52AA-754A-6453DB530D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9713" y="1822349"/>
            <a:ext cx="10490942" cy="503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0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C12F-DC2F-E047-475A-A7223B7DF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Ride Length (by day of week)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6D513-19DC-4182-95C6-DEB63664A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566532" cy="4351338"/>
          </a:xfrm>
        </p:spPr>
        <p:txBody>
          <a:bodyPr/>
          <a:lstStyle/>
          <a:p>
            <a:r>
              <a:rPr lang="en-US" dirty="0"/>
              <a:t>Casual riders ride </a:t>
            </a:r>
            <a:r>
              <a:rPr lang="en-US" b="1" dirty="0"/>
              <a:t>much longer on average</a:t>
            </a:r>
            <a:endParaRPr lang="en-US" dirty="0"/>
          </a:p>
          <a:p>
            <a:r>
              <a:rPr lang="en-US" dirty="0"/>
              <a:t>Members ride </a:t>
            </a:r>
            <a:r>
              <a:rPr lang="en-US" b="1" dirty="0"/>
              <a:t>short, consistent trips</a:t>
            </a:r>
            <a:r>
              <a:rPr lang="en-US" dirty="0"/>
              <a:t> typical of commuting</a:t>
            </a:r>
          </a:p>
        </p:txBody>
      </p:sp>
      <p:pic>
        <p:nvPicPr>
          <p:cNvPr id="6" name="Content Placeholder 5" descr="A graph of a graph showing the growth of a number of people&#10;&#10;AI-generated content may be incorrect.">
            <a:extLst>
              <a:ext uri="{FF2B5EF4-FFF2-40B4-BE49-F238E27FC236}">
                <a16:creationId xmlns:a16="http://schemas.microsoft.com/office/drawing/2014/main" id="{6071C6C2-6D1C-452B-A4E8-41CB6EBB40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04732" y="1572322"/>
            <a:ext cx="7700340" cy="411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4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C814-EC3B-3D1A-5AC6-0F63095F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328" y="554696"/>
            <a:ext cx="10708888" cy="727693"/>
          </a:xfrm>
        </p:spPr>
        <p:txBody>
          <a:bodyPr>
            <a:noAutofit/>
          </a:bodyPr>
          <a:lstStyle/>
          <a:p>
            <a:r>
              <a:rPr lang="en-US" sz="4000" dirty="0"/>
              <a:t>Hourly Usage Patterns (Weekday vs Weekend)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B9CE-0A2A-DACE-D5F5-821FF6A2B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1164" y="1215483"/>
            <a:ext cx="2240164" cy="49237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Members show clear </a:t>
            </a:r>
            <a:r>
              <a:rPr lang="en-US" b="1" dirty="0"/>
              <a:t>commute peaks</a:t>
            </a:r>
            <a:r>
              <a:rPr lang="en-US" dirty="0"/>
              <a:t> at 8 AM and 5 PM on weekdays.</a:t>
            </a:r>
          </a:p>
          <a:p>
            <a:r>
              <a:rPr lang="en-US" dirty="0"/>
              <a:t>Casual riders peak midday on weekends, but still </a:t>
            </a:r>
            <a:r>
              <a:rPr lang="en-US" b="1" dirty="0"/>
              <a:t>include a rush during commuting hours</a:t>
            </a:r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370D05C-396F-6BE2-A5B1-D77A141EA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056" y="1825624"/>
            <a:ext cx="9490944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79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2D73D-E0B3-A2A8-4F57-873E2A420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993" y="260975"/>
            <a:ext cx="3389515" cy="23806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Location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837D3-8A84-3214-1342-4C6F8EF46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2950" y="2815314"/>
            <a:ext cx="2895600" cy="12896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Both Casual and Member Riders used the bikes heavily downtown</a:t>
            </a:r>
          </a:p>
        </p:txBody>
      </p:sp>
      <p:pic>
        <p:nvPicPr>
          <p:cNvPr id="6" name="Picture 5" descr="A map of a city&#10;&#10;AI-generated content may be incorrect.">
            <a:extLst>
              <a:ext uri="{FF2B5EF4-FFF2-40B4-BE49-F238E27FC236}">
                <a16:creationId xmlns:a16="http://schemas.microsoft.com/office/drawing/2014/main" id="{9FD2AFDE-8266-8C45-6AB9-DDD057C732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25" b="746"/>
          <a:stretch>
            <a:fillRect/>
          </a:stretch>
        </p:blipFill>
        <p:spPr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718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6D160-0CDE-7717-92BD-D3CBA5DE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Behavioral Differences Summary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48AA2089-1283-4A2E-A882-7746E99BC11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27306" y="2112579"/>
          <a:ext cx="10561330" cy="4192808"/>
        </p:xfrm>
        <a:graphic>
          <a:graphicData uri="http://schemas.openxmlformats.org/drawingml/2006/table">
            <a:tbl>
              <a:tblPr/>
              <a:tblGrid>
                <a:gridCol w="3523294">
                  <a:extLst>
                    <a:ext uri="{9D8B030D-6E8A-4147-A177-3AD203B41FA5}">
                      <a16:colId xmlns:a16="http://schemas.microsoft.com/office/drawing/2014/main" val="2352135808"/>
                    </a:ext>
                  </a:extLst>
                </a:gridCol>
                <a:gridCol w="3985105">
                  <a:extLst>
                    <a:ext uri="{9D8B030D-6E8A-4147-A177-3AD203B41FA5}">
                      <a16:colId xmlns:a16="http://schemas.microsoft.com/office/drawing/2014/main" val="3188742801"/>
                    </a:ext>
                  </a:extLst>
                </a:gridCol>
                <a:gridCol w="3052931">
                  <a:extLst>
                    <a:ext uri="{9D8B030D-6E8A-4147-A177-3AD203B41FA5}">
                      <a16:colId xmlns:a16="http://schemas.microsoft.com/office/drawing/2014/main" val="784992431"/>
                    </a:ext>
                  </a:extLst>
                </a:gridCol>
              </a:tblGrid>
              <a:tr h="63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Behavior Metric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Annual Members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Casual Riders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814150"/>
                  </a:ext>
                </a:extLst>
              </a:tr>
              <a:tr h="63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Ride Length</a:t>
                      </a:r>
                      <a:endParaRPr lang="en-US" sz="2700"/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Shorter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Longer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311556"/>
                  </a:ext>
                </a:extLst>
              </a:tr>
              <a:tr h="63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Usage Pattern</a:t>
                      </a:r>
                      <a:endParaRPr lang="en-US" sz="2700"/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Weekday-heavy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Weekend-heavy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915281"/>
                  </a:ext>
                </a:extLst>
              </a:tr>
              <a:tr h="63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Peak Hours</a:t>
                      </a:r>
                      <a:endParaRPr lang="en-US" sz="2700"/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8 AM &amp; 5 PM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Mid-afternoon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492906"/>
                  </a:ext>
                </a:extLst>
              </a:tr>
              <a:tr h="630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Trip Purpose</a:t>
                      </a:r>
                      <a:endParaRPr lang="en-US" sz="2700"/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Commute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Leisure/Tourism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177667"/>
                  </a:ext>
                </a:extLst>
              </a:tr>
              <a:tr h="10408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/>
                        <a:t>Location Hotspots</a:t>
                      </a:r>
                      <a:endParaRPr lang="en-US" sz="2700"/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Business &amp; commuting corridors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Lakefront, parks, attractions</a:t>
                      </a:r>
                    </a:p>
                  </a:txBody>
                  <a:tcPr marL="121364" marR="121364" marT="60683" marB="606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988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64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6E6D7-4340-CCBC-C2CC-6BD327D9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Marketing Recommendations</a:t>
            </a:r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F1550A27-6784-342E-1EB5-C0EC36AFE3D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359849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2463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98F80-EA0D-58FF-ABDA-8E4D88CF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776" y="1296743"/>
            <a:ext cx="2877448" cy="8337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 / Q/A</a:t>
            </a:r>
          </a:p>
        </p:txBody>
      </p:sp>
      <p:pic>
        <p:nvPicPr>
          <p:cNvPr id="6" name="Content Placeholder 5" descr="A logo for a bicycle sharing company&#10;&#10;AI-generated content may be incorrect.">
            <a:extLst>
              <a:ext uri="{FF2B5EF4-FFF2-40B4-BE49-F238E27FC236}">
                <a16:creationId xmlns:a16="http://schemas.microsoft.com/office/drawing/2014/main" id="{E2EA3D0C-6BE3-58F1-98DB-1C49F78A8E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418" y="2266004"/>
            <a:ext cx="3876165" cy="316553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313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Cyclistic Insights Case Study</vt:lpstr>
      <vt:lpstr>Project Overview</vt:lpstr>
      <vt:lpstr>Data Cleaning and Preparation</vt:lpstr>
      <vt:lpstr>Rides by Rider Type</vt:lpstr>
      <vt:lpstr>Average Ride Length (by day of week)</vt:lpstr>
      <vt:lpstr>Hourly Usage Patterns (Weekday vs Weekend)</vt:lpstr>
      <vt:lpstr>Location </vt:lpstr>
      <vt:lpstr>Key Behavioral Differences Summary</vt:lpstr>
      <vt:lpstr>Marketing Recommendations</vt:lpstr>
      <vt:lpstr>Thanks / Q/A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Dawson Michael Gronemus</dc:creator>
  <cp:lastModifiedBy>Dawson Michael Gronemus</cp:lastModifiedBy>
  <cp:revision>1</cp:revision>
  <dcterms:created xsi:type="dcterms:W3CDTF">2025-12-13T03:15:33Z</dcterms:created>
  <dcterms:modified xsi:type="dcterms:W3CDTF">2025-12-13T05:39:07Z</dcterms:modified>
</cp:coreProperties>
</file>